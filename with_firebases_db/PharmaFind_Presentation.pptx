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3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023360" cy="4023360"/>
          </a:xfrm>
          <a:prstGeom prst="ellipse">
            <a:avLst/>
          </a:prstGeom>
          <a:solidFill>
            <a:srgbClr val="0B6B56"/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4663440"/>
            <a:ext cx="3291840" cy="3291840"/>
          </a:xfrm>
          <a:prstGeom prst="ellipse">
            <a:avLst/>
          </a:prstGeom>
          <a:solidFill>
            <a:srgbClr val="0B6B56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43000" cy="1143000"/>
          </a:xfrm>
          <a:prstGeom prst="ellipse">
            <a:avLst/>
          </a:prstGeom>
          <a:solidFill>
            <a:srgbClr val="0F8A6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" y="1668780"/>
            <a:ext cx="548640" cy="5486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6974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PharmaFind</a:t>
            </a:r>
            <a:endParaRPr lang="en-US" sz="5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6118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DCF0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Medicine Availability &amp; Pharmacy Finder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160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FB7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multi-role system to find, manage and dispense medicines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521208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name] · [Roll number]
</a:t>
            </a:r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 members]
</a:t>
            </a:r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[Guide name]   ·   SR University, Hyderabad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problem, and our solution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finding a medicine is harder than it should be — and how PharmaFind fixes it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18608" cy="4297680"/>
          </a:xfrm>
          <a:prstGeom prst="roundRect">
            <a:avLst>
              <a:gd name="adj" fmla="val 2128"/>
            </a:avLst>
          </a:prstGeom>
          <a:solidFill>
            <a:srgbClr val="FDF4F4"/>
          </a:solidFill>
          <a:ln w="12700">
            <a:solidFill>
              <a:srgbClr val="FBE3E3"/>
            </a:solidFill>
            <a:prstDash val="solid"/>
          </a:ln>
          <a:effectLst>
            <a:outerShdw sx="100000" sy="100000" kx="0" ky="0" algn="bl" rotWithShape="0" blurRad="114300" dist="38100" dir="5400000">
              <a:srgbClr val="9AA8A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57400"/>
            <a:ext cx="822960" cy="822960"/>
          </a:xfrm>
          <a:prstGeom prst="ellipse">
            <a:avLst/>
          </a:prstGeom>
          <a:solidFill>
            <a:srgbClr val="FBE3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650" y="2271370"/>
            <a:ext cx="395021" cy="39502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828800" y="2103120"/>
            <a:ext cx="3855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3108960"/>
            <a:ext cx="449564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7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hop between pharmacies to find one medicine</a:t>
            </a:r>
            <a:endParaRPr lang="en-US" sz="14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7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place shows live availability, price or hours</a:t>
            </a:r>
            <a:endParaRPr lang="en-US" sz="14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7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is tracked manually and goes stale after each sale</a:t>
            </a:r>
            <a:endParaRPr lang="en-US" sz="14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7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emergencies, the delay affects patient care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324448" y="1737360"/>
            <a:ext cx="5318608" cy="4297680"/>
          </a:xfrm>
          <a:prstGeom prst="roundRect">
            <a:avLst>
              <a:gd name="adj" fmla="val 2128"/>
            </a:avLst>
          </a:prstGeom>
          <a:solidFill>
            <a:srgbClr val="DCF0EA"/>
          </a:solidFill>
          <a:ln w="12700">
            <a:solidFill>
              <a:srgbClr val="0F8A6F"/>
            </a:solidFill>
            <a:prstDash val="solid"/>
          </a:ln>
          <a:effectLst>
            <a:outerShdw sx="100000" sy="100000" kx="0" ky="0" algn="bl" rotWithShape="0" blurRad="114300" dist="38100" dir="5400000">
              <a:srgbClr val="9AA8A0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44488" y="2057400"/>
            <a:ext cx="822960" cy="822960"/>
          </a:xfrm>
          <a:prstGeom prst="ellipse">
            <a:avLst/>
          </a:prstGeom>
          <a:solidFill>
            <a:srgbClr val="CF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457" y="2271370"/>
            <a:ext cx="395021" cy="39502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604608" y="2103120"/>
            <a:ext cx="3855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6B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6735928" y="3108960"/>
            <a:ext cx="449564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7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search across nearby pharmacies for any medicine</a:t>
            </a:r>
            <a:endParaRPr lang="en-US" sz="14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7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who has it: quantity, price, distance and hours</a:t>
            </a:r>
            <a:endParaRPr lang="en-US" sz="14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7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a medicine to hold it for pickup</a:t>
            </a:r>
            <a:endParaRPr lang="en-US" sz="14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7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stays accurate — every sale reduces it automatically</a:t>
            </a:r>
            <a:endParaRPr lang="en-US" sz="1450" dirty="0"/>
          </a:p>
        </p:txBody>
      </p:sp>
      <p:sp>
        <p:nvSpPr>
          <p:cNvPr id="14" name="Text 1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PharmaFind — Medicine Availability &amp; Pharmacy Finder</a:t>
            </a:r>
            <a:endParaRPr lang="en-US" sz="900" dirty="0"/>
          </a:p>
        </p:txBody>
      </p:sp>
      <p:sp>
        <p:nvSpPr>
          <p:cNvPr id="15" name="Text 11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roles, cleanly separated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 — each role can edit only its own data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454298" cy="4023360"/>
          </a:xfrm>
          <a:prstGeom prst="roundRect">
            <a:avLst>
              <a:gd name="adj" fmla="val 2647"/>
            </a:avLst>
          </a:prstGeom>
          <a:solidFill>
            <a:srgbClr val="F1F5F2"/>
          </a:solidFill>
          <a:ln w="12700">
            <a:solidFill>
              <a:srgbClr val="E0E5E1"/>
            </a:solidFill>
            <a:prstDash val="solid"/>
          </a:ln>
          <a:effectLst>
            <a:outerShdw sx="100000" sy="100000" kx="0" ky="0" algn="bl" rotWithShape="0" blurRad="114300" dist="38100" dir="5400000">
              <a:srgbClr val="9AA8A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772869" y="2286000"/>
            <a:ext cx="1005840" cy="1005840"/>
          </a:xfrm>
          <a:prstGeom prst="ellipse">
            <a:avLst/>
          </a:prstGeom>
          <a:solidFill>
            <a:srgbClr val="DCF0E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4388" y="2547518"/>
            <a:ext cx="482803" cy="48280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3474720"/>
            <a:ext cx="3088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4023360"/>
            <a:ext cx="281421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F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Governs the network and the shared medicine catalog. Approves stores, manages logins, sees system-wide stats.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68698" y="1828800"/>
            <a:ext cx="3454298" cy="4023360"/>
          </a:xfrm>
          <a:prstGeom prst="roundRect">
            <a:avLst>
              <a:gd name="adj" fmla="val 2647"/>
            </a:avLst>
          </a:prstGeom>
          <a:solidFill>
            <a:srgbClr val="F1F5F2"/>
          </a:solidFill>
          <a:ln w="12700">
            <a:solidFill>
              <a:srgbClr val="E0E5E1"/>
            </a:solidFill>
            <a:prstDash val="solid"/>
          </a:ln>
          <a:effectLst>
            <a:outerShdw sx="100000" sy="100000" kx="0" ky="0" algn="bl" rotWithShape="0" blurRad="114300" dist="38100" dir="5400000">
              <a:srgbClr val="9AA8A0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592928" y="2286000"/>
            <a:ext cx="1005840" cy="1005840"/>
          </a:xfrm>
          <a:prstGeom prst="ellipse">
            <a:avLst/>
          </a:prstGeom>
          <a:solidFill>
            <a:srgbClr val="DCF0E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4446" y="2547518"/>
            <a:ext cx="482803" cy="48280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51578" y="3474720"/>
            <a:ext cx="3088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Medical (Pharmacy)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4688738" y="4023360"/>
            <a:ext cx="281421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F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its own online store — manages inventory, prices, billing and reservations for that pharmacy only.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188757" y="1828800"/>
            <a:ext cx="3454298" cy="4023360"/>
          </a:xfrm>
          <a:prstGeom prst="roundRect">
            <a:avLst>
              <a:gd name="adj" fmla="val 2647"/>
            </a:avLst>
          </a:prstGeom>
          <a:solidFill>
            <a:srgbClr val="F1F5F2"/>
          </a:solidFill>
          <a:ln w="12700">
            <a:solidFill>
              <a:srgbClr val="E0E5E1"/>
            </a:solidFill>
            <a:prstDash val="solid"/>
          </a:ln>
          <a:effectLst>
            <a:outerShdw sx="100000" sy="100000" kx="0" ky="0" algn="bl" rotWithShape="0" blurRad="114300" dist="38100" dir="5400000">
              <a:srgbClr val="9AA8A0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412986" y="2286000"/>
            <a:ext cx="1005840" cy="1005840"/>
          </a:xfrm>
          <a:prstGeom prst="ellipse">
            <a:avLst/>
          </a:prstGeom>
          <a:solidFill>
            <a:srgbClr val="DCF0E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4504" y="2547518"/>
            <a:ext cx="482803" cy="48280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71637" y="3474720"/>
            <a:ext cx="3088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 (User)</a:t>
            </a:r>
            <a:endParaRPr lang="en-US" sz="1900" dirty="0"/>
          </a:p>
        </p:txBody>
      </p:sp>
      <p:sp>
        <p:nvSpPr>
          <p:cNvPr id="18" name="Text 13"/>
          <p:cNvSpPr txBox="1"/>
          <p:nvPr/>
        </p:nvSpPr>
        <p:spPr>
          <a:xfrm>
            <a:off x="8508797" y="4023360"/>
            <a:ext cx="281421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F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 for medicines, views live availability nearby, and reserves what they need.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PharmaFind — Medicine Availability &amp; Pharmacy Finder</a:t>
            </a:r>
            <a:endParaRPr lang="en-US" sz="900" dirty="0"/>
          </a:p>
        </p:txBody>
      </p:sp>
      <p:sp>
        <p:nvSpPr>
          <p:cNvPr id="20" name="Text 15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 features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person searching for medicine can do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64328" cy="1234440"/>
          </a:xfrm>
          <a:prstGeom prst="roundRect">
            <a:avLst>
              <a:gd name="adj" fmla="val 7407"/>
            </a:avLst>
          </a:prstGeom>
          <a:solidFill>
            <a:srgbClr val="F1F5F2"/>
          </a:solidFill>
          <a:ln w="12700">
            <a:solidFill>
              <a:srgbClr val="E0E5E1"/>
            </a:solidFill>
            <a:prstDash val="solid"/>
          </a:ln>
          <a:effectLst>
            <a:outerShdw sx="100000" sy="100000" kx="0" ky="0" algn="bl" rotWithShape="0" blurRad="114300" dist="38100" dir="5400000">
              <a:srgbClr val="9AA8A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938528"/>
            <a:ext cx="923544" cy="923544"/>
          </a:xfrm>
          <a:prstGeom prst="ellipse">
            <a:avLst/>
          </a:prstGeom>
          <a:solidFill>
            <a:srgbClr val="DCF0E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929" y="2178649"/>
            <a:ext cx="443301" cy="44330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892808" y="1911096"/>
            <a:ext cx="383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search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1892808" y="2203704"/>
            <a:ext cx="38372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F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by brand or salt/generic name — e.g. Dolo or Paracetamol.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78728" y="1783080"/>
            <a:ext cx="5364328" cy="1234440"/>
          </a:xfrm>
          <a:prstGeom prst="roundRect">
            <a:avLst>
              <a:gd name="adj" fmla="val 7407"/>
            </a:avLst>
          </a:prstGeom>
          <a:solidFill>
            <a:srgbClr val="F1F5F2"/>
          </a:solidFill>
          <a:ln w="12700">
            <a:solidFill>
              <a:srgbClr val="E0E5E1"/>
            </a:solidFill>
            <a:prstDash val="solid"/>
          </a:ln>
          <a:effectLst>
            <a:outerShdw sx="100000" sy="100000" kx="0" ky="0" algn="bl" rotWithShape="0" blurRad="114300" dist="38100" dir="5400000">
              <a:srgbClr val="9AA8A0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79896" y="1938528"/>
            <a:ext cx="923544" cy="923544"/>
          </a:xfrm>
          <a:prstGeom prst="ellipse">
            <a:avLst/>
          </a:prstGeom>
          <a:solidFill>
            <a:srgbClr val="DCF0E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017" y="2178649"/>
            <a:ext cx="443301" cy="44330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622896" y="1911096"/>
            <a:ext cx="383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Nearest first</a:t>
            </a:r>
            <a:endParaRPr lang="en-US" sz="1450" dirty="0"/>
          </a:p>
        </p:txBody>
      </p:sp>
      <p:sp>
        <p:nvSpPr>
          <p:cNvPr id="13" name="Text 9"/>
          <p:cNvSpPr txBox="1"/>
          <p:nvPr/>
        </p:nvSpPr>
        <p:spPr>
          <a:xfrm>
            <a:off x="7622896" y="2203704"/>
            <a:ext cx="38372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F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pharmacies only, sorted by distance in km.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273552"/>
            <a:ext cx="5364328" cy="1234440"/>
          </a:xfrm>
          <a:prstGeom prst="roundRect">
            <a:avLst>
              <a:gd name="adj" fmla="val 7407"/>
            </a:avLst>
          </a:prstGeom>
          <a:solidFill>
            <a:srgbClr val="F1F5F2"/>
          </a:solidFill>
          <a:ln w="12700">
            <a:solidFill>
              <a:srgbClr val="E0E5E1"/>
            </a:solidFill>
            <a:prstDash val="solid"/>
          </a:ln>
          <a:effectLst>
            <a:outerShdw sx="100000" sy="100000" kx="0" ky="0" algn="bl" rotWithShape="0" blurRad="114300" dist="38100" dir="5400000">
              <a:srgbClr val="9AA8A0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49808" y="3429000"/>
            <a:ext cx="923544" cy="923544"/>
          </a:xfrm>
          <a:prstGeom prst="ellipse">
            <a:avLst/>
          </a:prstGeom>
          <a:solidFill>
            <a:srgbClr val="DCF0E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929" y="3669121"/>
            <a:ext cx="443301" cy="443301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892808" y="3401568"/>
            <a:ext cx="383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availability</a:t>
            </a:r>
            <a:endParaRPr lang="en-US" sz="1450" dirty="0"/>
          </a:p>
        </p:txBody>
      </p:sp>
      <p:sp>
        <p:nvSpPr>
          <p:cNvPr id="18" name="Text 13"/>
          <p:cNvSpPr txBox="1"/>
          <p:nvPr/>
        </p:nvSpPr>
        <p:spPr>
          <a:xfrm>
            <a:off x="1892808" y="3694176"/>
            <a:ext cx="38372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F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Price, quantity and a green / amber / red stock badge.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278728" y="3273552"/>
            <a:ext cx="5364328" cy="1234440"/>
          </a:xfrm>
          <a:prstGeom prst="roundRect">
            <a:avLst>
              <a:gd name="adj" fmla="val 7407"/>
            </a:avLst>
          </a:prstGeom>
          <a:solidFill>
            <a:srgbClr val="F1F5F2"/>
          </a:solidFill>
          <a:ln w="12700">
            <a:solidFill>
              <a:srgbClr val="E0E5E1"/>
            </a:solidFill>
            <a:prstDash val="solid"/>
          </a:ln>
          <a:effectLst>
            <a:outerShdw sx="100000" sy="100000" kx="0" ky="0" algn="bl" rotWithShape="0" blurRad="114300" dist="38100" dir="5400000">
              <a:srgbClr val="9AA8A0">
                <a:alpha val="2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79896" y="3429000"/>
            <a:ext cx="923544" cy="923544"/>
          </a:xfrm>
          <a:prstGeom prst="ellipse">
            <a:avLst/>
          </a:prstGeom>
          <a:solidFill>
            <a:srgbClr val="DCF0E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017" y="3669121"/>
            <a:ext cx="443301" cy="443301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622896" y="3401568"/>
            <a:ext cx="383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&amp; track</a:t>
            </a:r>
            <a:endParaRPr lang="en-US" sz="1450" dirty="0"/>
          </a:p>
        </p:txBody>
      </p:sp>
      <p:sp>
        <p:nvSpPr>
          <p:cNvPr id="23" name="Text 17"/>
          <p:cNvSpPr txBox="1"/>
          <p:nvPr/>
        </p:nvSpPr>
        <p:spPr>
          <a:xfrm>
            <a:off x="7622896" y="3694176"/>
            <a:ext cx="38372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F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a medicine for pickup and track its status.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548640" y="4764024"/>
            <a:ext cx="5364328" cy="1234440"/>
          </a:xfrm>
          <a:prstGeom prst="roundRect">
            <a:avLst>
              <a:gd name="adj" fmla="val 7407"/>
            </a:avLst>
          </a:prstGeom>
          <a:solidFill>
            <a:srgbClr val="F1F5F2"/>
          </a:solidFill>
          <a:ln w="12700">
            <a:solidFill>
              <a:srgbClr val="E0E5E1"/>
            </a:solidFill>
            <a:prstDash val="solid"/>
          </a:ln>
          <a:effectLst>
            <a:outerShdw sx="100000" sy="100000" kx="0" ky="0" algn="bl" rotWithShape="0" blurRad="114300" dist="38100" dir="5400000">
              <a:srgbClr val="9AA8A0">
                <a:alpha val="2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49808" y="4919472"/>
            <a:ext cx="923544" cy="923544"/>
          </a:xfrm>
          <a:prstGeom prst="ellipse">
            <a:avLst/>
          </a:prstGeom>
          <a:solidFill>
            <a:srgbClr val="DCF0EA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9929" y="5159593"/>
            <a:ext cx="443301" cy="443301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892808" y="4892040"/>
            <a:ext cx="383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hours</a:t>
            </a:r>
            <a:endParaRPr lang="en-US" sz="1450" dirty="0"/>
          </a:p>
        </p:txBody>
      </p:sp>
      <p:sp>
        <p:nvSpPr>
          <p:cNvPr id="28" name="Text 21"/>
          <p:cNvSpPr txBox="1"/>
          <p:nvPr/>
        </p:nvSpPr>
        <p:spPr>
          <a:xfrm>
            <a:off x="1892808" y="5184648"/>
            <a:ext cx="38372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F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each pharmacy's address and operating hours.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6278728" y="4764024"/>
            <a:ext cx="5364328" cy="1234440"/>
          </a:xfrm>
          <a:prstGeom prst="roundRect">
            <a:avLst>
              <a:gd name="adj" fmla="val 7407"/>
            </a:avLst>
          </a:prstGeom>
          <a:solidFill>
            <a:srgbClr val="F1F5F2"/>
          </a:solidFill>
          <a:ln w="12700">
            <a:solidFill>
              <a:srgbClr val="E0E5E1"/>
            </a:solidFill>
            <a:prstDash val="solid"/>
          </a:ln>
          <a:effectLst>
            <a:outerShdw sx="100000" sy="100000" kx="0" ky="0" algn="bl" rotWithShape="0" blurRad="114300" dist="38100" dir="5400000">
              <a:srgbClr val="9AA8A0">
                <a:alpha val="2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479896" y="4919472"/>
            <a:ext cx="923544" cy="923544"/>
          </a:xfrm>
          <a:prstGeom prst="ellipse">
            <a:avLst/>
          </a:prstGeom>
          <a:solidFill>
            <a:srgbClr val="DCF0EA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0017" y="5159593"/>
            <a:ext cx="443301" cy="443301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7622896" y="4892040"/>
            <a:ext cx="383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450" dirty="0"/>
          </a:p>
        </p:txBody>
      </p:sp>
      <p:sp>
        <p:nvSpPr>
          <p:cNvPr id="33" name="Text 25"/>
          <p:cNvSpPr txBox="1"/>
          <p:nvPr/>
        </p:nvSpPr>
        <p:spPr>
          <a:xfrm>
            <a:off x="7622896" y="5184648"/>
            <a:ext cx="38372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F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when a reservation is ready or cancelled.</a:t>
            </a:r>
            <a:endParaRPr lang="en-US" sz="1150" dirty="0"/>
          </a:p>
        </p:txBody>
      </p:sp>
      <p:sp>
        <p:nvSpPr>
          <p:cNvPr id="34" name="Text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PharmaFind — Medicine Availability &amp; Pharmacy Finder</a:t>
            </a:r>
            <a:endParaRPr lang="en-US" sz="900" dirty="0"/>
          </a:p>
        </p:txBody>
      </p:sp>
      <p:sp>
        <p:nvSpPr>
          <p:cNvPr id="35" name="Text 27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Medical (Pharmacy) features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store owner logs in and runs everything from one dashboard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64328" cy="1234440"/>
          </a:xfrm>
          <a:prstGeom prst="roundRect">
            <a:avLst>
              <a:gd name="adj" fmla="val 7407"/>
            </a:avLst>
          </a:prstGeom>
          <a:solidFill>
            <a:srgbClr val="F1F5F2"/>
          </a:solidFill>
          <a:ln w="12700">
            <a:solidFill>
              <a:srgbClr val="E0E5E1"/>
            </a:solidFill>
            <a:prstDash val="solid"/>
          </a:ln>
          <a:effectLst>
            <a:outerShdw sx="100000" sy="100000" kx="0" ky="0" algn="bl" rotWithShape="0" blurRad="114300" dist="38100" dir="5400000">
              <a:srgbClr val="9AA8A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938528"/>
            <a:ext cx="923544" cy="923544"/>
          </a:xfrm>
          <a:prstGeom prst="ellipse">
            <a:avLst/>
          </a:prstGeom>
          <a:solidFill>
            <a:srgbClr val="DCF0E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929" y="2178649"/>
            <a:ext cx="443301" cy="44330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892808" y="1911096"/>
            <a:ext cx="383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1892808" y="2203704"/>
            <a:ext cx="38372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F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Medicines listed, low &amp; out-of-stock counts, sales and revenue at a glance.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78728" y="1783080"/>
            <a:ext cx="5364328" cy="1234440"/>
          </a:xfrm>
          <a:prstGeom prst="roundRect">
            <a:avLst>
              <a:gd name="adj" fmla="val 7407"/>
            </a:avLst>
          </a:prstGeom>
          <a:solidFill>
            <a:srgbClr val="F1F5F2"/>
          </a:solidFill>
          <a:ln w="12700">
            <a:solidFill>
              <a:srgbClr val="E0E5E1"/>
            </a:solidFill>
            <a:prstDash val="solid"/>
          </a:ln>
          <a:effectLst>
            <a:outerShdw sx="100000" sy="100000" kx="0" ky="0" algn="bl" rotWithShape="0" blurRad="114300" dist="38100" dir="5400000">
              <a:srgbClr val="9AA8A0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79896" y="1938528"/>
            <a:ext cx="923544" cy="923544"/>
          </a:xfrm>
          <a:prstGeom prst="ellipse">
            <a:avLst/>
          </a:prstGeom>
          <a:solidFill>
            <a:srgbClr val="DCF0E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017" y="2178649"/>
            <a:ext cx="443301" cy="44330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622896" y="1911096"/>
            <a:ext cx="383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450" dirty="0"/>
          </a:p>
        </p:txBody>
      </p:sp>
      <p:sp>
        <p:nvSpPr>
          <p:cNvPr id="13" name="Text 9"/>
          <p:cNvSpPr txBox="1"/>
          <p:nvPr/>
        </p:nvSpPr>
        <p:spPr>
          <a:xfrm>
            <a:off x="7622896" y="2203704"/>
            <a:ext cx="38372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F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medicines from the catalog, set price and quantity, live stock badges.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273552"/>
            <a:ext cx="5364328" cy="1234440"/>
          </a:xfrm>
          <a:prstGeom prst="roundRect">
            <a:avLst>
              <a:gd name="adj" fmla="val 7407"/>
            </a:avLst>
          </a:prstGeom>
          <a:solidFill>
            <a:srgbClr val="F1F5F2"/>
          </a:solidFill>
          <a:ln w="12700">
            <a:solidFill>
              <a:srgbClr val="E0E5E1"/>
            </a:solidFill>
            <a:prstDash val="solid"/>
          </a:ln>
          <a:effectLst>
            <a:outerShdw sx="100000" sy="100000" kx="0" ky="0" algn="bl" rotWithShape="0" blurRad="114300" dist="38100" dir="5400000">
              <a:srgbClr val="9AA8A0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49808" y="3429000"/>
            <a:ext cx="923544" cy="923544"/>
          </a:xfrm>
          <a:prstGeom prst="ellipse">
            <a:avLst/>
          </a:prstGeom>
          <a:solidFill>
            <a:srgbClr val="DCF0E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929" y="3669121"/>
            <a:ext cx="443301" cy="443301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892808" y="3401568"/>
            <a:ext cx="383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</a:t>
            </a:r>
            <a:endParaRPr lang="en-US" sz="1450" dirty="0"/>
          </a:p>
        </p:txBody>
      </p:sp>
      <p:sp>
        <p:nvSpPr>
          <p:cNvPr id="18" name="Text 13"/>
          <p:cNvSpPr txBox="1"/>
          <p:nvPr/>
        </p:nvSpPr>
        <p:spPr>
          <a:xfrm>
            <a:off x="1892808" y="3694176"/>
            <a:ext cx="38372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F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bills with a running total — stock reduces automatically on save.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278728" y="3273552"/>
            <a:ext cx="5364328" cy="1234440"/>
          </a:xfrm>
          <a:prstGeom prst="roundRect">
            <a:avLst>
              <a:gd name="adj" fmla="val 7407"/>
            </a:avLst>
          </a:prstGeom>
          <a:solidFill>
            <a:srgbClr val="F1F5F2"/>
          </a:solidFill>
          <a:ln w="12700">
            <a:solidFill>
              <a:srgbClr val="E0E5E1"/>
            </a:solidFill>
            <a:prstDash val="solid"/>
          </a:ln>
          <a:effectLst>
            <a:outerShdw sx="100000" sy="100000" kx="0" ky="0" algn="bl" rotWithShape="0" blurRad="114300" dist="38100" dir="5400000">
              <a:srgbClr val="9AA8A0">
                <a:alpha val="2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79896" y="3429000"/>
            <a:ext cx="923544" cy="923544"/>
          </a:xfrm>
          <a:prstGeom prst="ellipse">
            <a:avLst/>
          </a:prstGeom>
          <a:solidFill>
            <a:srgbClr val="DCF0E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017" y="3669121"/>
            <a:ext cx="443301" cy="443301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622896" y="3401568"/>
            <a:ext cx="383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Reservations</a:t>
            </a:r>
            <a:endParaRPr lang="en-US" sz="1450" dirty="0"/>
          </a:p>
        </p:txBody>
      </p:sp>
      <p:sp>
        <p:nvSpPr>
          <p:cNvPr id="23" name="Text 17"/>
          <p:cNvSpPr txBox="1"/>
          <p:nvPr/>
        </p:nvSpPr>
        <p:spPr>
          <a:xfrm>
            <a:off x="7622896" y="3694176"/>
            <a:ext cx="38372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F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patient requests and mark them fulfilled or cancelled.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548640" y="4764024"/>
            <a:ext cx="5364328" cy="1234440"/>
          </a:xfrm>
          <a:prstGeom prst="roundRect">
            <a:avLst>
              <a:gd name="adj" fmla="val 7407"/>
            </a:avLst>
          </a:prstGeom>
          <a:solidFill>
            <a:srgbClr val="F1F5F2"/>
          </a:solidFill>
          <a:ln w="12700">
            <a:solidFill>
              <a:srgbClr val="E0E5E1"/>
            </a:solidFill>
            <a:prstDash val="solid"/>
          </a:ln>
          <a:effectLst>
            <a:outerShdw sx="100000" sy="100000" kx="0" ky="0" algn="bl" rotWithShape="0" blurRad="114300" dist="38100" dir="5400000">
              <a:srgbClr val="9AA8A0">
                <a:alpha val="2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49808" y="4919472"/>
            <a:ext cx="923544" cy="923544"/>
          </a:xfrm>
          <a:prstGeom prst="ellipse">
            <a:avLst/>
          </a:prstGeom>
          <a:solidFill>
            <a:srgbClr val="DCF0EA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9929" y="5159593"/>
            <a:ext cx="443301" cy="443301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892808" y="4892040"/>
            <a:ext cx="383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history</a:t>
            </a:r>
            <a:endParaRPr lang="en-US" sz="1450" dirty="0"/>
          </a:p>
        </p:txBody>
      </p:sp>
      <p:sp>
        <p:nvSpPr>
          <p:cNvPr id="28" name="Text 21"/>
          <p:cNvSpPr txBox="1"/>
          <p:nvPr/>
        </p:nvSpPr>
        <p:spPr>
          <a:xfrm>
            <a:off x="1892808" y="5184648"/>
            <a:ext cx="38372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F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bill and receipt, with total revenue.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6278728" y="4764024"/>
            <a:ext cx="5364328" cy="1234440"/>
          </a:xfrm>
          <a:prstGeom prst="roundRect">
            <a:avLst>
              <a:gd name="adj" fmla="val 7407"/>
            </a:avLst>
          </a:prstGeom>
          <a:solidFill>
            <a:srgbClr val="F1F5F2"/>
          </a:solidFill>
          <a:ln w="12700">
            <a:solidFill>
              <a:srgbClr val="E0E5E1"/>
            </a:solidFill>
            <a:prstDash val="solid"/>
          </a:ln>
          <a:effectLst>
            <a:outerShdw sx="100000" sy="100000" kx="0" ky="0" algn="bl" rotWithShape="0" blurRad="114300" dist="38100" dir="5400000">
              <a:srgbClr val="9AA8A0">
                <a:alpha val="2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479896" y="4919472"/>
            <a:ext cx="923544" cy="923544"/>
          </a:xfrm>
          <a:prstGeom prst="ellipse">
            <a:avLst/>
          </a:prstGeom>
          <a:solidFill>
            <a:srgbClr val="DCF0EA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0017" y="5159593"/>
            <a:ext cx="443301" cy="443301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7622896" y="4892040"/>
            <a:ext cx="383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settings</a:t>
            </a:r>
            <a:endParaRPr lang="en-US" sz="1450" dirty="0"/>
          </a:p>
        </p:txBody>
      </p:sp>
      <p:sp>
        <p:nvSpPr>
          <p:cNvPr id="33" name="Text 25"/>
          <p:cNvSpPr txBox="1"/>
          <p:nvPr/>
        </p:nvSpPr>
        <p:spPr>
          <a:xfrm>
            <a:off x="7622896" y="5184648"/>
            <a:ext cx="38372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F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store name, area and opening hours.</a:t>
            </a:r>
            <a:endParaRPr lang="en-US" sz="1150" dirty="0"/>
          </a:p>
        </p:txBody>
      </p:sp>
      <p:sp>
        <p:nvSpPr>
          <p:cNvPr id="34" name="Text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PharmaFind — Medicine Availability &amp; Pharmacy Finder</a:t>
            </a:r>
            <a:endParaRPr lang="en-US" sz="900" dirty="0"/>
          </a:p>
        </p:txBody>
      </p:sp>
      <p:sp>
        <p:nvSpPr>
          <p:cNvPr id="35" name="Text 27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features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Governs the whole network and issues logins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64328" cy="1234440"/>
          </a:xfrm>
          <a:prstGeom prst="roundRect">
            <a:avLst>
              <a:gd name="adj" fmla="val 7407"/>
            </a:avLst>
          </a:prstGeom>
          <a:solidFill>
            <a:srgbClr val="F1F5F2"/>
          </a:solidFill>
          <a:ln w="12700">
            <a:solidFill>
              <a:srgbClr val="E0E5E1"/>
            </a:solidFill>
            <a:prstDash val="solid"/>
          </a:ln>
          <a:effectLst>
            <a:outerShdw sx="100000" sy="100000" kx="0" ky="0" algn="bl" rotWithShape="0" blurRad="114300" dist="38100" dir="5400000">
              <a:srgbClr val="9AA8A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938528"/>
            <a:ext cx="923544" cy="923544"/>
          </a:xfrm>
          <a:prstGeom prst="ellipse">
            <a:avLst/>
          </a:prstGeom>
          <a:solidFill>
            <a:srgbClr val="DCF0E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929" y="2178649"/>
            <a:ext cx="443301" cy="44330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892808" y="1911096"/>
            <a:ext cx="383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Approvals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1892808" y="2203704"/>
            <a:ext cx="38372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F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Approve, reject, suspend or reactivate pharmacies.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78728" y="1783080"/>
            <a:ext cx="5364328" cy="1234440"/>
          </a:xfrm>
          <a:prstGeom prst="roundRect">
            <a:avLst>
              <a:gd name="adj" fmla="val 7407"/>
            </a:avLst>
          </a:prstGeom>
          <a:solidFill>
            <a:srgbClr val="F1F5F2"/>
          </a:solidFill>
          <a:ln w="12700">
            <a:solidFill>
              <a:srgbClr val="E0E5E1"/>
            </a:solidFill>
            <a:prstDash val="solid"/>
          </a:ln>
          <a:effectLst>
            <a:outerShdw sx="100000" sy="100000" kx="0" ky="0" algn="bl" rotWithShape="0" blurRad="114300" dist="38100" dir="5400000">
              <a:srgbClr val="9AA8A0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79896" y="1938528"/>
            <a:ext cx="923544" cy="923544"/>
          </a:xfrm>
          <a:prstGeom prst="ellipse">
            <a:avLst/>
          </a:prstGeom>
          <a:solidFill>
            <a:srgbClr val="DCF0E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017" y="2178649"/>
            <a:ext cx="443301" cy="44330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622896" y="1911096"/>
            <a:ext cx="383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logins</a:t>
            </a:r>
            <a:endParaRPr lang="en-US" sz="1450" dirty="0"/>
          </a:p>
        </p:txBody>
      </p:sp>
      <p:sp>
        <p:nvSpPr>
          <p:cNvPr id="13" name="Text 9"/>
          <p:cNvSpPr txBox="1"/>
          <p:nvPr/>
        </p:nvSpPr>
        <p:spPr>
          <a:xfrm>
            <a:off x="7622896" y="2203704"/>
            <a:ext cx="38372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F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a user ID + password for pharmacies, patients, admins.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273552"/>
            <a:ext cx="5364328" cy="1234440"/>
          </a:xfrm>
          <a:prstGeom prst="roundRect">
            <a:avLst>
              <a:gd name="adj" fmla="val 7407"/>
            </a:avLst>
          </a:prstGeom>
          <a:solidFill>
            <a:srgbClr val="F1F5F2"/>
          </a:solidFill>
          <a:ln w="12700">
            <a:solidFill>
              <a:srgbClr val="E0E5E1"/>
            </a:solidFill>
            <a:prstDash val="solid"/>
          </a:ln>
          <a:effectLst>
            <a:outerShdw sx="100000" sy="100000" kx="0" ky="0" algn="bl" rotWithShape="0" blurRad="114300" dist="38100" dir="5400000">
              <a:srgbClr val="9AA8A0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49808" y="3429000"/>
            <a:ext cx="923544" cy="923544"/>
          </a:xfrm>
          <a:prstGeom prst="ellipse">
            <a:avLst/>
          </a:prstGeom>
          <a:solidFill>
            <a:srgbClr val="DCF0E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929" y="3669121"/>
            <a:ext cx="443301" cy="443301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892808" y="3401568"/>
            <a:ext cx="383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accounts</a:t>
            </a:r>
            <a:endParaRPr lang="en-US" sz="1450" dirty="0"/>
          </a:p>
        </p:txBody>
      </p:sp>
      <p:sp>
        <p:nvSpPr>
          <p:cNvPr id="18" name="Text 13"/>
          <p:cNvSpPr txBox="1"/>
          <p:nvPr/>
        </p:nvSpPr>
        <p:spPr>
          <a:xfrm>
            <a:off x="1892808" y="3694176"/>
            <a:ext cx="38372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F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every login, reset passwords, delete accounts.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278728" y="3273552"/>
            <a:ext cx="5364328" cy="1234440"/>
          </a:xfrm>
          <a:prstGeom prst="roundRect">
            <a:avLst>
              <a:gd name="adj" fmla="val 7407"/>
            </a:avLst>
          </a:prstGeom>
          <a:solidFill>
            <a:srgbClr val="F1F5F2"/>
          </a:solidFill>
          <a:ln w="12700">
            <a:solidFill>
              <a:srgbClr val="E0E5E1"/>
            </a:solidFill>
            <a:prstDash val="solid"/>
          </a:ln>
          <a:effectLst>
            <a:outerShdw sx="100000" sy="100000" kx="0" ky="0" algn="bl" rotWithShape="0" blurRad="114300" dist="38100" dir="5400000">
              <a:srgbClr val="9AA8A0">
                <a:alpha val="2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79896" y="3429000"/>
            <a:ext cx="923544" cy="923544"/>
          </a:xfrm>
          <a:prstGeom prst="ellipse">
            <a:avLst/>
          </a:prstGeom>
          <a:solidFill>
            <a:srgbClr val="DCF0E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017" y="3669121"/>
            <a:ext cx="443301" cy="443301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622896" y="3401568"/>
            <a:ext cx="383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 catalog</a:t>
            </a:r>
            <a:endParaRPr lang="en-US" sz="1450" dirty="0"/>
          </a:p>
        </p:txBody>
      </p:sp>
      <p:sp>
        <p:nvSpPr>
          <p:cNvPr id="23" name="Text 17"/>
          <p:cNvSpPr txBox="1"/>
          <p:nvPr/>
        </p:nvSpPr>
        <p:spPr>
          <a:xfrm>
            <a:off x="7622896" y="3694176"/>
            <a:ext cx="38372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F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one shared master list — no duplicate names.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548640" y="4764024"/>
            <a:ext cx="5364328" cy="1234440"/>
          </a:xfrm>
          <a:prstGeom prst="roundRect">
            <a:avLst>
              <a:gd name="adj" fmla="val 7407"/>
            </a:avLst>
          </a:prstGeom>
          <a:solidFill>
            <a:srgbClr val="F1F5F2"/>
          </a:solidFill>
          <a:ln w="12700">
            <a:solidFill>
              <a:srgbClr val="E0E5E1"/>
            </a:solidFill>
            <a:prstDash val="solid"/>
          </a:ln>
          <a:effectLst>
            <a:outerShdw sx="100000" sy="100000" kx="0" ky="0" algn="bl" rotWithShape="0" blurRad="114300" dist="38100" dir="5400000">
              <a:srgbClr val="9AA8A0">
                <a:alpha val="2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49808" y="4919472"/>
            <a:ext cx="923544" cy="923544"/>
          </a:xfrm>
          <a:prstGeom prst="ellipse">
            <a:avLst/>
          </a:prstGeom>
          <a:solidFill>
            <a:srgbClr val="DCF0EA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9929" y="5159593"/>
            <a:ext cx="443301" cy="443301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892808" y="4892040"/>
            <a:ext cx="383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overview</a:t>
            </a:r>
            <a:endParaRPr lang="en-US" sz="1450" dirty="0"/>
          </a:p>
        </p:txBody>
      </p:sp>
      <p:sp>
        <p:nvSpPr>
          <p:cNvPr id="28" name="Text 21"/>
          <p:cNvSpPr txBox="1"/>
          <p:nvPr/>
        </p:nvSpPr>
        <p:spPr>
          <a:xfrm>
            <a:off x="1892808" y="5184648"/>
            <a:ext cx="38372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F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Active/pending pharmacies, patients, bills, total revenue.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6278728" y="4764024"/>
            <a:ext cx="5364328" cy="1234440"/>
          </a:xfrm>
          <a:prstGeom prst="roundRect">
            <a:avLst>
              <a:gd name="adj" fmla="val 7407"/>
            </a:avLst>
          </a:prstGeom>
          <a:solidFill>
            <a:srgbClr val="F1F5F2"/>
          </a:solidFill>
          <a:ln w="12700">
            <a:solidFill>
              <a:srgbClr val="E0E5E1"/>
            </a:solidFill>
            <a:prstDash val="solid"/>
          </a:ln>
          <a:effectLst>
            <a:outerShdw sx="100000" sy="100000" kx="0" ky="0" algn="bl" rotWithShape="0" blurRad="114300" dist="38100" dir="5400000">
              <a:srgbClr val="9AA8A0">
                <a:alpha val="2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479896" y="4919472"/>
            <a:ext cx="923544" cy="923544"/>
          </a:xfrm>
          <a:prstGeom prst="ellipse">
            <a:avLst/>
          </a:prstGeom>
          <a:solidFill>
            <a:srgbClr val="DCF0EA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0017" y="5159593"/>
            <a:ext cx="443301" cy="443301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7622896" y="4892040"/>
            <a:ext cx="383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450" dirty="0"/>
          </a:p>
        </p:txBody>
      </p:sp>
      <p:sp>
        <p:nvSpPr>
          <p:cNvPr id="33" name="Text 25"/>
          <p:cNvSpPr txBox="1"/>
          <p:nvPr/>
        </p:nvSpPr>
        <p:spPr>
          <a:xfrm>
            <a:off x="7622896" y="5184648"/>
            <a:ext cx="38372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F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pharmacy never edits another store's data.</a:t>
            </a:r>
            <a:endParaRPr lang="en-US" sz="1150" dirty="0"/>
          </a:p>
        </p:txBody>
      </p:sp>
      <p:sp>
        <p:nvSpPr>
          <p:cNvPr id="34" name="Text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PharmaFind — Medicine Availability &amp; Pharmacy Finder</a:t>
            </a:r>
            <a:endParaRPr lang="en-US" sz="900" dirty="0"/>
          </a:p>
        </p:txBody>
      </p:sp>
      <p:sp>
        <p:nvSpPr>
          <p:cNvPr id="35" name="Text 27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3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feature — billing with automatic stock reduction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a bill and reducing stock happen as one atomic transaction — all or nothing.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514600" cy="2103120"/>
          </a:xfrm>
          <a:prstGeom prst="roundRect">
            <a:avLst>
              <a:gd name="adj" fmla="val 3913"/>
            </a:avLst>
          </a:prstGeom>
          <a:solidFill>
            <a:srgbClr val="12463A"/>
          </a:solidFill>
          <a:ln w="19050">
            <a:solidFill>
              <a:srgbClr val="0F8A6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2130552"/>
            <a:ext cx="621792" cy="621792"/>
          </a:xfrm>
          <a:prstGeom prst="ellipse">
            <a:avLst/>
          </a:prstGeom>
          <a:solidFill>
            <a:srgbClr val="0F8A6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213055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834640"/>
            <a:ext cx="2002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3246120"/>
            <a:ext cx="2002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every line against current stock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3053029" y="251460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C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3408578" y="1874520"/>
            <a:ext cx="2514600" cy="2103120"/>
          </a:xfrm>
          <a:prstGeom prst="roundRect">
            <a:avLst>
              <a:gd name="adj" fmla="val 3913"/>
            </a:avLst>
          </a:prstGeom>
          <a:solidFill>
            <a:srgbClr val="12463A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64610" y="2130552"/>
            <a:ext cx="621792" cy="621792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664610" y="213055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3664610" y="2834640"/>
            <a:ext cx="2002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Abort if short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664610" y="3246120"/>
            <a:ext cx="2002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item short → cancel the whole bill, change nothing (rollback)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5912968" y="251460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C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6268517" y="1874520"/>
            <a:ext cx="2514600" cy="2103120"/>
          </a:xfrm>
          <a:prstGeom prst="roundRect">
            <a:avLst>
              <a:gd name="adj" fmla="val 3913"/>
            </a:avLst>
          </a:prstGeom>
          <a:solidFill>
            <a:srgbClr val="12463A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24549" y="2130552"/>
            <a:ext cx="621792" cy="621792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24549" y="213055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6524549" y="2834640"/>
            <a:ext cx="2002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together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524549" y="3246120"/>
            <a:ext cx="2002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bill + line items AND reduce stock in one write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8772906" y="251460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C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9128455" y="1874520"/>
            <a:ext cx="2514600" cy="2103120"/>
          </a:xfrm>
          <a:prstGeom prst="roundRect">
            <a:avLst>
              <a:gd name="adj" fmla="val 3913"/>
            </a:avLst>
          </a:prstGeom>
          <a:solidFill>
            <a:srgbClr val="12463A"/>
          </a:solidFill>
          <a:ln w="19050">
            <a:solidFill>
              <a:srgbClr val="C07A1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384487" y="2130552"/>
            <a:ext cx="621792" cy="621792"/>
          </a:xfrm>
          <a:prstGeom prst="ellipse">
            <a:avLst/>
          </a:prstGeom>
          <a:solidFill>
            <a:srgbClr val="C07A1E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384487" y="213055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9384487" y="2834640"/>
            <a:ext cx="2002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price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9384487" y="3246120"/>
            <a:ext cx="2002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unit price on each line so old bills stay correct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" y="4343400"/>
            <a:ext cx="11094415" cy="1417320"/>
          </a:xfrm>
          <a:prstGeom prst="roundRect">
            <a:avLst>
              <a:gd name="adj" fmla="val 5806"/>
            </a:avLst>
          </a:prstGeom>
          <a:solidFill>
            <a:srgbClr val="0F8A6F"/>
          </a:solidFill>
          <a:ln/>
          <a:effectLst>
            <a:outerShdw sx="100000" sy="100000" kx="0" ky="0" algn="bl" rotWithShape="0" blurRad="114300" dist="38100" dir="5400000">
              <a:srgbClr val="9AA8A0">
                <a:alpha val="2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914400" y="4663440"/>
            <a:ext cx="777240" cy="777240"/>
          </a:xfrm>
          <a:prstGeom prst="ellipse">
            <a:avLst/>
          </a:prstGeom>
          <a:solidFill>
            <a:srgbClr val="0B6B56"/>
          </a:solidFill>
          <a:ln/>
        </p:spPr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482" y="4865522"/>
            <a:ext cx="373075" cy="373075"/>
          </a:xfrm>
          <a:prstGeom prst="rect">
            <a:avLst/>
          </a:prstGeom>
        </p:spPr>
      </p:pic>
      <p:sp>
        <p:nvSpPr>
          <p:cNvPr id="30" name="Text 27"/>
          <p:cNvSpPr txBox="1"/>
          <p:nvPr/>
        </p:nvSpPr>
        <p:spPr>
          <a:xfrm>
            <a:off x="1920240" y="4599432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freshness loop</a:t>
            </a:r>
            <a:endParaRPr lang="en-US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1920240" y="5001768"/>
            <a:ext cx="93570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every sale flows through billing, and billing reduces stock, what a patient sees in search always reflects real remaining stock. The classic “stale inventory” problem is designed out.</a:t>
            </a:r>
            <a:endParaRPr lang="en-US" sz="1250" dirty="0"/>
          </a:p>
        </p:txBody>
      </p:sp>
      <p:sp>
        <p:nvSpPr>
          <p:cNvPr id="32" name="Text 2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PharmaFind — Medicine Availability &amp; Pharmacy Finder</a:t>
            </a:r>
            <a:endParaRPr lang="en-US" sz="900" dirty="0"/>
          </a:p>
        </p:txBody>
      </p:sp>
      <p:sp>
        <p:nvSpPr>
          <p:cNvPr id="33" name="Text 30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design &amp; data model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engineering concepts behind PharmaFind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621792" cy="621792"/>
          </a:xfrm>
          <a:prstGeom prst="ellipse">
            <a:avLst/>
          </a:prstGeom>
          <a:solidFill>
            <a:srgbClr val="DCF0E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306" y="1990466"/>
            <a:ext cx="298460" cy="2984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847088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</a:t>
            </a:r>
            <a:endParaRPr lang="en-US" sz="145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217627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 scoped per role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2670048"/>
            <a:ext cx="621792" cy="621792"/>
          </a:xfrm>
          <a:prstGeom prst="ellipse">
            <a:avLst/>
          </a:prstGeom>
          <a:solidFill>
            <a:srgbClr val="DCF0EA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306" y="2831714"/>
            <a:ext cx="298460" cy="2984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71600" y="2688336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 search</a:t>
            </a:r>
            <a:endParaRPr lang="en-US" sz="1450" dirty="0"/>
          </a:p>
        </p:txBody>
      </p:sp>
      <p:sp>
        <p:nvSpPr>
          <p:cNvPr id="11" name="Text 7"/>
          <p:cNvSpPr txBox="1"/>
          <p:nvPr/>
        </p:nvSpPr>
        <p:spPr>
          <a:xfrm>
            <a:off x="1371600" y="301752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Nearest-first via Haversine distance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3511296"/>
            <a:ext cx="621792" cy="621792"/>
          </a:xfrm>
          <a:prstGeom prst="ellipse">
            <a:avLst/>
          </a:prstGeom>
          <a:solidFill>
            <a:srgbClr val="DCF0EA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306" y="3672962"/>
            <a:ext cx="298460" cy="29846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71600" y="3529584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transactions</a:t>
            </a:r>
            <a:endParaRPr lang="en-US" sz="1450" dirty="0"/>
          </a:p>
        </p:txBody>
      </p:sp>
      <p:sp>
        <p:nvSpPr>
          <p:cNvPr id="15" name="Text 10"/>
          <p:cNvSpPr txBox="1"/>
          <p:nvPr/>
        </p:nvSpPr>
        <p:spPr>
          <a:xfrm>
            <a:off x="1371600" y="3858768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 atomicity for bill + stock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48640" y="4352544"/>
            <a:ext cx="621792" cy="621792"/>
          </a:xfrm>
          <a:prstGeom prst="ellipse">
            <a:avLst/>
          </a:prstGeom>
          <a:solidFill>
            <a:srgbClr val="DCF0EA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306" y="4514210"/>
            <a:ext cx="298460" cy="29846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371600" y="4370832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governance</a:t>
            </a:r>
            <a:endParaRPr lang="en-US" sz="1450" dirty="0"/>
          </a:p>
        </p:txBody>
      </p:sp>
      <p:sp>
        <p:nvSpPr>
          <p:cNvPr id="19" name="Text 13"/>
          <p:cNvSpPr txBox="1"/>
          <p:nvPr/>
        </p:nvSpPr>
        <p:spPr>
          <a:xfrm>
            <a:off x="1371600" y="4700016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source of truth for names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548640" y="5193792"/>
            <a:ext cx="621792" cy="621792"/>
          </a:xfrm>
          <a:prstGeom prst="ellipse">
            <a:avLst/>
          </a:prstGeom>
          <a:solidFill>
            <a:srgbClr val="DCF0EA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306" y="5355458"/>
            <a:ext cx="298460" cy="29846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371600" y="521208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Read-heavy design</a:t>
            </a:r>
            <a:endParaRPr lang="en-US" sz="1450" dirty="0"/>
          </a:p>
        </p:txBody>
      </p:sp>
      <p:sp>
        <p:nvSpPr>
          <p:cNvPr id="23" name="Text 16"/>
          <p:cNvSpPr txBox="1"/>
          <p:nvPr/>
        </p:nvSpPr>
        <p:spPr>
          <a:xfrm>
            <a:off x="1371600" y="5541264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 ≫ writes → fits caching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6309360" y="1783080"/>
            <a:ext cx="5333695" cy="4206240"/>
          </a:xfrm>
          <a:prstGeom prst="roundRect">
            <a:avLst>
              <a:gd name="adj" fmla="val 2174"/>
            </a:avLst>
          </a:prstGeom>
          <a:solidFill>
            <a:srgbClr val="F1F5F2"/>
          </a:solidFill>
          <a:ln w="12700">
            <a:solidFill>
              <a:srgbClr val="E0E5E1"/>
            </a:solidFill>
            <a:prstDash val="solid"/>
          </a:ln>
          <a:effectLst>
            <a:outerShdw sx="100000" sy="100000" kx="0" ky="0" algn="bl" rotWithShape="0" blurRad="114300" dist="38100" dir="5400000">
              <a:srgbClr val="9AA8A0">
                <a:alpha val="28000"/>
              </a:srgbClr>
            </a:outerShdw>
          </a:effectLst>
        </p:spPr>
      </p:sp>
      <p:sp>
        <p:nvSpPr>
          <p:cNvPr id="25" name="Text 18"/>
          <p:cNvSpPr txBox="1"/>
          <p:nvPr/>
        </p:nvSpPr>
        <p:spPr>
          <a:xfrm>
            <a:off x="6583680" y="1920240"/>
            <a:ext cx="47850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6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 &amp; relationships</a:t>
            </a:r>
            <a:endParaRPr lang="en-US" sz="1300" dirty="0"/>
          </a:p>
        </p:txBody>
      </p:sp>
      <p:sp>
        <p:nvSpPr>
          <p:cNvPr id="26" name="Shape 19"/>
          <p:cNvSpPr/>
          <p:nvPr/>
        </p:nvSpPr>
        <p:spPr>
          <a:xfrm>
            <a:off x="6629400" y="2514600"/>
            <a:ext cx="1417320" cy="457200"/>
          </a:xfrm>
          <a:prstGeom prst="roundRect">
            <a:avLst>
              <a:gd name="adj" fmla="val 12000"/>
            </a:avLst>
          </a:prstGeom>
          <a:solidFill>
            <a:srgbClr val="DCF0EA"/>
          </a:solidFill>
          <a:ln w="12700">
            <a:solidFill>
              <a:srgbClr val="0F8A6F"/>
            </a:solidFill>
            <a:prstDash val="solid"/>
          </a:ln>
        </p:spPr>
      </p:sp>
      <p:sp>
        <p:nvSpPr>
          <p:cNvPr id="27" name="Text 20"/>
          <p:cNvSpPr txBox="1"/>
          <p:nvPr/>
        </p:nvSpPr>
        <p:spPr>
          <a:xfrm>
            <a:off x="6629400" y="25146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8412480" y="2514600"/>
            <a:ext cx="14173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F8A6F"/>
            </a:solidFill>
            <a:prstDash val="solid"/>
          </a:ln>
        </p:spPr>
      </p:sp>
      <p:sp>
        <p:nvSpPr>
          <p:cNvPr id="29" name="Text 22"/>
          <p:cNvSpPr txBox="1"/>
          <p:nvPr/>
        </p:nvSpPr>
        <p:spPr>
          <a:xfrm>
            <a:off x="8412480" y="25146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10195560" y="2514600"/>
            <a:ext cx="1234440" cy="457200"/>
          </a:xfrm>
          <a:prstGeom prst="roundRect">
            <a:avLst>
              <a:gd name="adj" fmla="val 12000"/>
            </a:avLst>
          </a:prstGeom>
          <a:solidFill>
            <a:srgbClr val="DCF0EA"/>
          </a:solidFill>
          <a:ln w="12700">
            <a:solidFill>
              <a:srgbClr val="0F8A6F"/>
            </a:solidFill>
            <a:prstDash val="solid"/>
          </a:ln>
        </p:spPr>
      </p:sp>
      <p:sp>
        <p:nvSpPr>
          <p:cNvPr id="31" name="Text 24"/>
          <p:cNvSpPr txBox="1"/>
          <p:nvPr/>
        </p:nvSpPr>
        <p:spPr>
          <a:xfrm>
            <a:off x="10195560" y="251460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</a:t>
            </a:r>
            <a:endParaRPr lang="en-US" sz="1150" dirty="0"/>
          </a:p>
        </p:txBody>
      </p:sp>
      <p:sp>
        <p:nvSpPr>
          <p:cNvPr id="32" name="Shape 25"/>
          <p:cNvSpPr/>
          <p:nvPr/>
        </p:nvSpPr>
        <p:spPr>
          <a:xfrm>
            <a:off x="8046720" y="2743200"/>
            <a:ext cx="365760" cy="0"/>
          </a:xfrm>
          <a:prstGeom prst="line">
            <a:avLst/>
          </a:prstGeom>
          <a:noFill/>
          <a:ln w="15875">
            <a:solidFill>
              <a:srgbClr val="0B6B56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9829800" y="2743200"/>
            <a:ext cx="365760" cy="0"/>
          </a:xfrm>
          <a:prstGeom prst="line">
            <a:avLst/>
          </a:prstGeom>
          <a:noFill/>
          <a:ln w="15875">
            <a:solidFill>
              <a:srgbClr val="0B6B56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6629400" y="3520440"/>
            <a:ext cx="1417320" cy="457200"/>
          </a:xfrm>
          <a:prstGeom prst="roundRect">
            <a:avLst>
              <a:gd name="adj" fmla="val 12000"/>
            </a:avLst>
          </a:prstGeom>
          <a:solidFill>
            <a:srgbClr val="F8ECD8"/>
          </a:solidFill>
          <a:ln w="12700">
            <a:solidFill>
              <a:srgbClr val="0F8A6F"/>
            </a:solidFill>
            <a:prstDash val="solid"/>
          </a:ln>
        </p:spPr>
      </p:sp>
      <p:sp>
        <p:nvSpPr>
          <p:cNvPr id="35" name="Text 28"/>
          <p:cNvSpPr txBox="1"/>
          <p:nvPr/>
        </p:nvSpPr>
        <p:spPr>
          <a:xfrm>
            <a:off x="6629400" y="352044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0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</a:t>
            </a:r>
            <a:endParaRPr lang="en-US" sz="1150" dirty="0"/>
          </a:p>
        </p:txBody>
      </p:sp>
      <p:sp>
        <p:nvSpPr>
          <p:cNvPr id="36" name="Shape 29"/>
          <p:cNvSpPr/>
          <p:nvPr/>
        </p:nvSpPr>
        <p:spPr>
          <a:xfrm>
            <a:off x="8412480" y="3520440"/>
            <a:ext cx="1417320" cy="457200"/>
          </a:xfrm>
          <a:prstGeom prst="roundRect">
            <a:avLst>
              <a:gd name="adj" fmla="val 12000"/>
            </a:avLst>
          </a:prstGeom>
          <a:solidFill>
            <a:srgbClr val="F8ECD8"/>
          </a:solidFill>
          <a:ln w="12700">
            <a:solidFill>
              <a:srgbClr val="0F8A6F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8412480" y="352044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0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Items</a:t>
            </a:r>
            <a:endParaRPr lang="en-US" sz="1150" dirty="0"/>
          </a:p>
        </p:txBody>
      </p:sp>
      <p:sp>
        <p:nvSpPr>
          <p:cNvPr id="38" name="Shape 31"/>
          <p:cNvSpPr/>
          <p:nvPr/>
        </p:nvSpPr>
        <p:spPr>
          <a:xfrm>
            <a:off x="8046720" y="3749040"/>
            <a:ext cx="365760" cy="0"/>
          </a:xfrm>
          <a:prstGeom prst="line">
            <a:avLst/>
          </a:prstGeom>
          <a:noFill/>
          <a:ln w="15875">
            <a:solidFill>
              <a:srgbClr val="0B6B56"/>
            </a:solidFill>
            <a:prstDash val="solid"/>
          </a:ln>
        </p:spPr>
      </p:sp>
      <p:sp>
        <p:nvSpPr>
          <p:cNvPr id="39" name="Shape 32"/>
          <p:cNvSpPr/>
          <p:nvPr/>
        </p:nvSpPr>
        <p:spPr>
          <a:xfrm>
            <a:off x="9116568" y="3520440"/>
            <a:ext cx="0" cy="-548640"/>
          </a:xfrm>
          <a:prstGeom prst="line">
            <a:avLst/>
          </a:prstGeom>
          <a:noFill/>
          <a:ln w="15875">
            <a:solidFill>
              <a:srgbClr val="0B6B56"/>
            </a:solidFill>
            <a:prstDash val="solid"/>
          </a:ln>
        </p:spPr>
      </p:sp>
      <p:sp>
        <p:nvSpPr>
          <p:cNvPr id="40" name="Shape 33"/>
          <p:cNvSpPr/>
          <p:nvPr/>
        </p:nvSpPr>
        <p:spPr>
          <a:xfrm>
            <a:off x="9116568" y="2971800"/>
            <a:ext cx="1170432" cy="0"/>
          </a:xfrm>
          <a:prstGeom prst="line">
            <a:avLst/>
          </a:prstGeom>
          <a:noFill/>
          <a:ln w="15875">
            <a:solidFill>
              <a:srgbClr val="0B6B56"/>
            </a:solidFill>
            <a:prstDash val="solid"/>
          </a:ln>
        </p:spPr>
      </p:sp>
      <p:sp>
        <p:nvSpPr>
          <p:cNvPr id="41" name="Shape 34"/>
          <p:cNvSpPr/>
          <p:nvPr/>
        </p:nvSpPr>
        <p:spPr>
          <a:xfrm>
            <a:off x="9116568" y="2971800"/>
            <a:ext cx="0" cy="548640"/>
          </a:xfrm>
          <a:prstGeom prst="line">
            <a:avLst/>
          </a:prstGeom>
          <a:noFill/>
          <a:ln w="15875">
            <a:solidFill>
              <a:srgbClr val="0B6B56"/>
            </a:solidFill>
            <a:prstDash val="solid"/>
          </a:ln>
        </p:spPr>
      </p:sp>
      <p:sp>
        <p:nvSpPr>
          <p:cNvPr id="42" name="Shape 35"/>
          <p:cNvSpPr/>
          <p:nvPr/>
        </p:nvSpPr>
        <p:spPr>
          <a:xfrm>
            <a:off x="6629400" y="4526280"/>
            <a:ext cx="14173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F8A6F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6629400" y="45262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</a:t>
            </a:r>
            <a:endParaRPr lang="en-US" sz="1150" dirty="0"/>
          </a:p>
        </p:txBody>
      </p:sp>
      <p:sp>
        <p:nvSpPr>
          <p:cNvPr id="44" name="Shape 37"/>
          <p:cNvSpPr/>
          <p:nvPr/>
        </p:nvSpPr>
        <p:spPr>
          <a:xfrm>
            <a:off x="8412480" y="4526280"/>
            <a:ext cx="1417320" cy="457200"/>
          </a:xfrm>
          <a:prstGeom prst="roundRect">
            <a:avLst>
              <a:gd name="adj" fmla="val 12000"/>
            </a:avLst>
          </a:prstGeom>
          <a:solidFill>
            <a:srgbClr val="DCF0EA"/>
          </a:solidFill>
          <a:ln w="12700">
            <a:solidFill>
              <a:srgbClr val="0F8A6F"/>
            </a:solidFill>
            <a:prstDash val="solid"/>
          </a:ln>
        </p:spPr>
      </p:sp>
      <p:sp>
        <p:nvSpPr>
          <p:cNvPr id="45" name="Text 38"/>
          <p:cNvSpPr txBox="1"/>
          <p:nvPr/>
        </p:nvSpPr>
        <p:spPr>
          <a:xfrm>
            <a:off x="8412480" y="45262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1150" dirty="0"/>
          </a:p>
        </p:txBody>
      </p:sp>
      <p:sp>
        <p:nvSpPr>
          <p:cNvPr id="46" name="Shape 39"/>
          <p:cNvSpPr/>
          <p:nvPr/>
        </p:nvSpPr>
        <p:spPr>
          <a:xfrm>
            <a:off x="10012680" y="4526280"/>
            <a:ext cx="1417320" cy="457200"/>
          </a:xfrm>
          <a:prstGeom prst="roundRect">
            <a:avLst>
              <a:gd name="adj" fmla="val 12000"/>
            </a:avLst>
          </a:prstGeom>
          <a:solidFill>
            <a:srgbClr val="DCF0EA"/>
          </a:solidFill>
          <a:ln w="12700">
            <a:solidFill>
              <a:srgbClr val="0F8A6F"/>
            </a:solidFill>
            <a:prstDash val="solid"/>
          </a:ln>
        </p:spPr>
      </p:sp>
      <p:sp>
        <p:nvSpPr>
          <p:cNvPr id="47" name="Text 40"/>
          <p:cNvSpPr txBox="1"/>
          <p:nvPr/>
        </p:nvSpPr>
        <p:spPr>
          <a:xfrm>
            <a:off x="10012680" y="45262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150" dirty="0"/>
          </a:p>
        </p:txBody>
      </p:sp>
      <p:sp>
        <p:nvSpPr>
          <p:cNvPr id="48" name="Shape 41"/>
          <p:cNvSpPr/>
          <p:nvPr/>
        </p:nvSpPr>
        <p:spPr>
          <a:xfrm>
            <a:off x="8046720" y="4754880"/>
            <a:ext cx="365760" cy="0"/>
          </a:xfrm>
          <a:prstGeom prst="line">
            <a:avLst/>
          </a:prstGeom>
          <a:noFill/>
          <a:ln w="15875">
            <a:solidFill>
              <a:srgbClr val="0B6B56"/>
            </a:solidFill>
            <a:prstDash val="solid"/>
          </a:ln>
        </p:spPr>
      </p:sp>
      <p:sp>
        <p:nvSpPr>
          <p:cNvPr id="49" name="Text 42"/>
          <p:cNvSpPr txBox="1"/>
          <p:nvPr/>
        </p:nvSpPr>
        <p:spPr>
          <a:xfrm>
            <a:off x="6583680" y="5257800"/>
            <a:ext cx="47850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F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· Pharmacies · Medicines · Inventory · Reservations · Bills · Bill Items · Notifications</a:t>
            </a:r>
            <a:endParaRPr lang="en-US" sz="1000" dirty="0"/>
          </a:p>
        </p:txBody>
      </p:sp>
      <p:sp>
        <p:nvSpPr>
          <p:cNvPr id="50" name="Text 4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PharmaFind — Medicine Availability &amp; Pharmacy Finder</a:t>
            </a:r>
            <a:endParaRPr lang="en-US" sz="900" dirty="0"/>
          </a:p>
        </p:txBody>
      </p:sp>
      <p:sp>
        <p:nvSpPr>
          <p:cNvPr id="51" name="Text 44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 &amp; workflow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run anywhere — and how it all fits together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060704" cy="502920"/>
          </a:xfrm>
          <a:prstGeom prst="roundRect">
            <a:avLst>
              <a:gd name="adj" fmla="val 49091"/>
            </a:avLst>
          </a:prstGeom>
          <a:solidFill>
            <a:srgbClr val="DCF0EA"/>
          </a:solidFill>
          <a:ln w="12700">
            <a:solidFill>
              <a:srgbClr val="0F8A6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828800"/>
            <a:ext cx="1060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6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37944" y="1828800"/>
            <a:ext cx="955548" cy="502920"/>
          </a:xfrm>
          <a:prstGeom prst="roundRect">
            <a:avLst>
              <a:gd name="adj" fmla="val 49091"/>
            </a:avLst>
          </a:prstGeom>
          <a:solidFill>
            <a:srgbClr val="DCF0EA"/>
          </a:solidFill>
          <a:ln w="12700">
            <a:solidFill>
              <a:srgbClr val="0F8A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837944" y="1828800"/>
            <a:ext cx="9555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6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022092" y="1828800"/>
            <a:ext cx="1691640" cy="502920"/>
          </a:xfrm>
          <a:prstGeom prst="roundRect">
            <a:avLst>
              <a:gd name="adj" fmla="val 49091"/>
            </a:avLst>
          </a:prstGeom>
          <a:solidFill>
            <a:srgbClr val="DCF0EA"/>
          </a:solidFill>
          <a:ln w="12700">
            <a:solidFill>
              <a:srgbClr val="0F8A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022092" y="18288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6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942332" y="1828800"/>
            <a:ext cx="1901952" cy="502920"/>
          </a:xfrm>
          <a:prstGeom prst="roundRect">
            <a:avLst>
              <a:gd name="adj" fmla="val 49091"/>
            </a:avLst>
          </a:prstGeom>
          <a:solidFill>
            <a:srgbClr val="DCF0EA"/>
          </a:solidFill>
          <a:ln w="12700">
            <a:solidFill>
              <a:srgbClr val="0F8A6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942332" y="1828800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6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072884" y="1828800"/>
            <a:ext cx="2217420" cy="502920"/>
          </a:xfrm>
          <a:prstGeom prst="roundRect">
            <a:avLst>
              <a:gd name="adj" fmla="val 49091"/>
            </a:avLst>
          </a:prstGeom>
          <a:solidFill>
            <a:srgbClr val="DCF0EA"/>
          </a:solidFill>
          <a:ln w="12700">
            <a:solidFill>
              <a:srgbClr val="0F8A6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072884" y="1828800"/>
            <a:ext cx="22174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6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Single-file app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518904" y="1828800"/>
            <a:ext cx="2322576" cy="502920"/>
          </a:xfrm>
          <a:prstGeom prst="roundRect">
            <a:avLst>
              <a:gd name="adj" fmla="val 49091"/>
            </a:avLst>
          </a:prstGeom>
          <a:solidFill>
            <a:srgbClr val="DCF0EA"/>
          </a:solidFill>
          <a:ln w="12700">
            <a:solidFill>
              <a:srgbClr val="0F8A6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518904" y="1828800"/>
            <a:ext cx="2322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6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server needed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251460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F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Self-contained — opens by double-clicking any browser.  Real-world path: a Node / Flask backend with a SQL / PostGIS database.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108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lifecycle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365760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F1F5F2"/>
          </a:solidFill>
          <a:ln w="12700">
            <a:solidFill>
              <a:srgbClr val="E0E5E1"/>
            </a:solidFill>
            <a:prstDash val="solid"/>
          </a:ln>
          <a:effectLst>
            <a:outerShdw sx="100000" sy="100000" kx="0" ky="0" algn="bl" rotWithShape="0" blurRad="114300" dist="38100" dir="5400000">
              <a:srgbClr val="9AA8A0">
                <a:alpha val="28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58368" y="37490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8A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406908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1880845" y="395020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F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2161489" y="365760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F1F5F2"/>
          </a:solidFill>
          <a:ln w="12700">
            <a:solidFill>
              <a:srgbClr val="E0E5E1"/>
            </a:solidFill>
            <a:prstDash val="solid"/>
          </a:ln>
          <a:effectLst>
            <a:outerShdw sx="100000" sy="100000" kx="0" ky="0" algn="bl" rotWithShape="0" blurRad="114300" dist="38100" dir="5400000">
              <a:srgbClr val="9AA8A0">
                <a:alpha val="28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2271217" y="37490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8A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2252929" y="406908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3493694" y="395020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F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3774338" y="365760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F1F5F2"/>
          </a:solidFill>
          <a:ln w="12700">
            <a:solidFill>
              <a:srgbClr val="E0E5E1"/>
            </a:solidFill>
            <a:prstDash val="solid"/>
          </a:ln>
          <a:effectLst>
            <a:outerShdw sx="100000" sy="100000" kx="0" ky="0" algn="bl" rotWithShape="0" blurRad="114300" dist="38100" dir="5400000">
              <a:srgbClr val="9AA8A0">
                <a:alpha val="28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3884066" y="37490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8A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3865778" y="406908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stock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5106543" y="395020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F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5387188" y="365760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F1F5F2"/>
          </a:solidFill>
          <a:ln w="12700">
            <a:solidFill>
              <a:srgbClr val="E0E5E1"/>
            </a:solidFill>
            <a:prstDash val="solid"/>
          </a:ln>
          <a:effectLst>
            <a:outerShdw sx="100000" sy="100000" kx="0" ky="0" algn="bl" rotWithShape="0" blurRad="114300" dist="38100" dir="5400000">
              <a:srgbClr val="9AA8A0">
                <a:alpha val="28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5496916" y="37490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8A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5478628" y="406908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6719392" y="395020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F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7000037" y="365760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F1F5F2"/>
          </a:solidFill>
          <a:ln w="12700">
            <a:solidFill>
              <a:srgbClr val="E0E5E1"/>
            </a:solidFill>
            <a:prstDash val="solid"/>
          </a:ln>
          <a:effectLst>
            <a:outerShdw sx="100000" sy="100000" kx="0" ky="0" algn="bl" rotWithShape="0" blurRad="114300" dist="38100" dir="5400000">
              <a:srgbClr val="9AA8A0">
                <a:alpha val="28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7109765" y="37490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8A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7091477" y="406908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8332241" y="395020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F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8" name="Shape 36"/>
          <p:cNvSpPr/>
          <p:nvPr/>
        </p:nvSpPr>
        <p:spPr>
          <a:xfrm>
            <a:off x="8612886" y="365760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0F8A6F"/>
          </a:solidFill>
          <a:ln w="12700">
            <a:solidFill>
              <a:srgbClr val="0F8A6F"/>
            </a:solidFill>
            <a:prstDash val="solid"/>
          </a:ln>
          <a:effectLst>
            <a:outerShdw sx="100000" sy="100000" kx="0" ky="0" algn="bl" rotWithShape="0" blurRad="114300" dist="38100" dir="5400000">
              <a:srgbClr val="9AA8A0">
                <a:alpha val="28000"/>
              </a:srgbClr>
            </a:outerShdw>
          </a:effectLst>
        </p:spPr>
      </p:sp>
      <p:sp>
        <p:nvSpPr>
          <p:cNvPr id="39" name="Text 37"/>
          <p:cNvSpPr txBox="1"/>
          <p:nvPr/>
        </p:nvSpPr>
        <p:spPr>
          <a:xfrm>
            <a:off x="8722614" y="37490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FED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8704326" y="406908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→ stock ↓</a:t>
            </a:r>
            <a:endParaRPr lang="en-US" sz="1250" dirty="0"/>
          </a:p>
        </p:txBody>
      </p:sp>
      <p:sp>
        <p:nvSpPr>
          <p:cNvPr id="41" name="Text 39"/>
          <p:cNvSpPr txBox="1"/>
          <p:nvPr/>
        </p:nvSpPr>
        <p:spPr>
          <a:xfrm>
            <a:off x="9945091" y="395020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F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42" name="Shape 40"/>
          <p:cNvSpPr/>
          <p:nvPr/>
        </p:nvSpPr>
        <p:spPr>
          <a:xfrm>
            <a:off x="10225735" y="365760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F1F5F2"/>
          </a:solidFill>
          <a:ln w="12700">
            <a:solidFill>
              <a:srgbClr val="E0E5E1"/>
            </a:solidFill>
            <a:prstDash val="solid"/>
          </a:ln>
          <a:effectLst>
            <a:outerShdw sx="100000" sy="100000" kx="0" ky="0" algn="bl" rotWithShape="0" blurRad="114300" dist="38100" dir="5400000">
              <a:srgbClr val="9AA8A0">
                <a:alpha val="28000"/>
              </a:srgbClr>
            </a:outerShdw>
          </a:effectLst>
        </p:spPr>
      </p:sp>
      <p:sp>
        <p:nvSpPr>
          <p:cNvPr id="43" name="Text 41"/>
          <p:cNvSpPr txBox="1"/>
          <p:nvPr/>
        </p:nvSpPr>
        <p:spPr>
          <a:xfrm>
            <a:off x="10335463" y="37490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8A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00" dirty="0"/>
          </a:p>
        </p:txBody>
      </p:sp>
      <p:sp>
        <p:nvSpPr>
          <p:cNvPr id="44" name="Text 42"/>
          <p:cNvSpPr txBox="1"/>
          <p:nvPr/>
        </p:nvSpPr>
        <p:spPr>
          <a:xfrm>
            <a:off x="10317175" y="406908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Oversee</a:t>
            </a:r>
            <a:endParaRPr lang="en-US" sz="1250" dirty="0"/>
          </a:p>
        </p:txBody>
      </p:sp>
      <p:sp>
        <p:nvSpPr>
          <p:cNvPr id="45" name="Text 43"/>
          <p:cNvSpPr txBox="1"/>
          <p:nvPr/>
        </p:nvSpPr>
        <p:spPr>
          <a:xfrm>
            <a:off x="548640" y="50749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0B6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sale runs through billing, so search always shows real stock.</a:t>
            </a:r>
            <a:endParaRPr lang="en-US" sz="1250" dirty="0"/>
          </a:p>
        </p:txBody>
      </p:sp>
      <p:sp>
        <p:nvSpPr>
          <p:cNvPr id="46" name="Text 4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PharmaFind — Medicine Availability &amp; Pharmacy Finder</a:t>
            </a:r>
            <a:endParaRPr lang="en-US" sz="900" dirty="0"/>
          </a:p>
        </p:txBody>
      </p:sp>
      <p:sp>
        <p:nvSpPr>
          <p:cNvPr id="47" name="Text 45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3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280160"/>
            <a:ext cx="3657600" cy="3657600"/>
          </a:xfrm>
          <a:prstGeom prst="ellipse">
            <a:avLst/>
          </a:prstGeom>
          <a:solidFill>
            <a:srgbClr val="0B6B5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486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 &amp; conclusion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777240" cy="777240"/>
          </a:xfrm>
          <a:prstGeom prst="ellipse">
            <a:avLst/>
          </a:prstGeom>
          <a:solidFill>
            <a:srgbClr val="0F8A6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722" y="1756562"/>
            <a:ext cx="373075" cy="37307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162763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comes next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468880"/>
            <a:ext cx="5120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E6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backend + database</a:t>
            </a:r>
            <a:endParaRPr lang="en-US" sz="14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E6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geolocation for true distances</a:t>
            </a:r>
            <a:endParaRPr lang="en-US" sz="14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E6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 verification with OCR</a:t>
            </a:r>
            <a:endParaRPr lang="en-US" sz="14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E6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GST-compliant invoicing</a:t>
            </a:r>
            <a:endParaRPr lang="en-US" sz="14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E6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Hashed passwords &amp; secure auth</a:t>
            </a:r>
            <a:endParaRPr lang="en-US" sz="14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E6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492240" y="1554480"/>
            <a:ext cx="5150815" cy="3383280"/>
          </a:xfrm>
          <a:prstGeom prst="roundRect">
            <a:avLst>
              <a:gd name="adj" fmla="val 2703"/>
            </a:avLst>
          </a:prstGeom>
          <a:solidFill>
            <a:srgbClr val="12463A"/>
          </a:solidFill>
          <a:ln w="12700">
            <a:solidFill>
              <a:srgbClr val="0F8A6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858000" y="1874520"/>
            <a:ext cx="731520" cy="731520"/>
          </a:xfrm>
          <a:prstGeom prst="ellipse">
            <a:avLst/>
          </a:prstGeom>
          <a:solidFill>
            <a:srgbClr val="0E3A30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8195" y="2064715"/>
            <a:ext cx="351130" cy="35113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726680" y="1920240"/>
            <a:ext cx="36877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one line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6858000" y="2697480"/>
            <a:ext cx="44192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C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PharmaFind turns a frustrating pharmacy hunt into a single search — and keeps stock honest by tying every sale to automatic stock reduction.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6858000" y="4114800"/>
            <a:ext cx="4419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 ·  Questions?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548640" y="63093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B7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PharmaFind — Medicine Availability &amp; Pharmacy Finder   ·   SR University, Hyderabad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2026-09-17T06:32:56Z</dcterms:created>
  <dcterms:modified xsi:type="dcterms:W3CDTF">2026-09-17T06:32:56Z</dcterms:modified>
</cp:coreProperties>
</file>